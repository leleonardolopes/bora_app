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057" autoAdjust="0"/>
  </p:normalViewPr>
  <p:slideViewPr>
    <p:cSldViewPr>
      <p:cViewPr varScale="1">
        <p:scale>
          <a:sx n="75" d="100"/>
          <a:sy n="75" d="100"/>
        </p:scale>
        <p:origin x="874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3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163045E5-42FC-4993-9904-DC28E3BE54D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DEB7CE7-C2A7-7402-3899-8B703515037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41E79C6-35BE-49E1-B642-B4109A3489C5}" type="datetimeFigureOut">
              <a:rPr lang="pt-BR"/>
              <a:pPr>
                <a:defRPr/>
              </a:pPr>
              <a:t>09/09/2026</a:t>
            </a:fld>
            <a:endParaRPr lang="pt-BR" dirty="0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453AD416-BF89-231B-DCAC-8A07042639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 dirty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22C1F2BD-CDE3-230F-C5C2-36FA54308D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0D52D78-0A8C-2E4E-2577-C8747F8773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631BE6F-58C2-0B3D-5833-3C34750943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B26A1A4-5297-49F9-8819-8274FF8C8A43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93C767-C99A-5A84-5C98-1F6F68741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3AC429-430B-4F4A-BC15-803DEA802C98}" type="datetimeFigureOut">
              <a:rPr lang="pt-BR"/>
              <a:pPr>
                <a:defRPr/>
              </a:pPr>
              <a:t>09/09/2026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C12008-269E-EAA2-9CB9-1E688A663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6AACFD-F00A-64C5-4E60-22C02C324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F0AD41-6CC9-4F9C-AA42-5A67D1A3BAD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40998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041649"/>
            <a:ext cx="10972800" cy="1143000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2420891"/>
            <a:ext cx="10972800" cy="3705275"/>
          </a:xfrm>
        </p:spPr>
        <p:txBody>
          <a:bodyPr/>
          <a:lstStyle/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5098CAE-8E98-D95D-5FE9-DD44319BB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7CA0B9-13FB-41BA-AA75-6229DA83728F}" type="datetimeFigureOut">
              <a:rPr lang="pt-BR"/>
              <a:pPr>
                <a:defRPr/>
              </a:pPr>
              <a:t>09/09/2026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21CB6D-DBFF-70DA-241F-9252BB14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70938B-3DD8-65A3-13E1-3F5BC7599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F8B397-51C4-469A-8907-E501D9ACFAD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730527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C318D3-9BEA-01CE-40B2-02B497522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A57C42-51E1-416B-9441-16A1BE4218B6}" type="datetimeFigureOut">
              <a:rPr lang="pt-BR"/>
              <a:pPr>
                <a:defRPr/>
              </a:pPr>
              <a:t>09/09/2026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742C80-967D-98D7-3C8B-6B1650C67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0A8EB0-3B53-7B6D-DB9B-D7975A432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0B378E-7386-4D3A-A8EF-9F8AAC0A7F3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23772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2E33AD84-D8FC-9B6B-B824-5E185BC36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B11B62-01EF-498C-B003-2327B727652B}" type="datetimeFigureOut">
              <a:rPr lang="pt-BR"/>
              <a:pPr>
                <a:defRPr/>
              </a:pPr>
              <a:t>09/09/2026</a:t>
            </a:fld>
            <a:endParaRPr lang="pt-BR" dirty="0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053F30F6-99EC-7AF7-36BC-619AD3328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9EE9375C-5DBB-81F5-ED43-3E797038B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97979B-9B2C-4AEE-BCC7-7B9B4D064A1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43480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FE80B206-53CC-D794-DB53-B11FD31C7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8F0B0-EBDD-4630-B925-6FCD5F0DD555}" type="datetimeFigureOut">
              <a:rPr lang="pt-BR"/>
              <a:pPr>
                <a:defRPr/>
              </a:pPr>
              <a:t>09/09/2026</a:t>
            </a:fld>
            <a:endParaRPr lang="pt-BR" dirty="0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E057BBC7-DE59-4F63-BFEB-0E27EB9DA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878AF8D3-17DC-4BE9-F0C8-DD0C7E5E0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0CB22-166D-4A8A-B319-A410D300854D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04397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6DD29EF0-17B0-A166-505D-D83523A59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DCE6BC-572F-4F47-8B8D-7DC98142EB01}" type="datetimeFigureOut">
              <a:rPr lang="pt-BR"/>
              <a:pPr>
                <a:defRPr/>
              </a:pPr>
              <a:t>09/09/2026</a:t>
            </a:fld>
            <a:endParaRPr lang="pt-BR" dirty="0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256F4A8F-F717-D2F6-C351-25D797404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2ACBAAE-02FE-F164-FA71-8DCEECBED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A08E62-EE29-4115-A244-AEDB92CB254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0561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63C17436-F535-95C0-510B-6126E1D82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7CA6C9-7C8C-4458-88FA-8423F28B2518}" type="datetimeFigureOut">
              <a:rPr lang="pt-BR"/>
              <a:pPr>
                <a:defRPr/>
              </a:pPr>
              <a:t>09/09/2026</a:t>
            </a:fld>
            <a:endParaRPr lang="pt-BR" dirty="0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F58EFD80-3E7E-17EE-F2ED-0080793F5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D88EE062-CA72-5E8B-B7DC-09A48DEBE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C046E-0713-4C09-A646-C61D343E05F0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70108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ABC04917-0416-F1BE-B8EA-F73525E2F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358935-0DA7-4997-A4E8-A92B640355B9}" type="datetimeFigureOut">
              <a:rPr lang="pt-BR"/>
              <a:pPr>
                <a:defRPr/>
              </a:pPr>
              <a:t>09/09/2026</a:t>
            </a:fld>
            <a:endParaRPr lang="pt-BR" dirty="0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504BB0CA-070F-7317-89CF-DDA204029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3830031-A353-C4EC-399C-F5014C1DD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2B9C0F-90DA-4C2E-9A3B-18829133330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98729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2321716-26FD-715D-C8CD-7B4AB1DB4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5488A6-15BD-449A-8A59-0544362D8ECA}" type="datetimeFigureOut">
              <a:rPr lang="pt-BR"/>
              <a:pPr>
                <a:defRPr/>
              </a:pPr>
              <a:t>09/09/2026</a:t>
            </a:fld>
            <a:endParaRPr lang="pt-BR" dirty="0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F6760773-0A29-E8D5-FC97-84BD3DE3F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56A63FBD-D22F-0FCF-7D68-6BAC3B94F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1F2ED6-691C-47D2-AEB9-2791CA740669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921226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4C489B-6D4B-455E-BADE-1AEF76449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D66CAA-51A5-4677-AB4D-EB0D97CDFD4C}" type="datetimeFigureOut">
              <a:rPr lang="pt-BR"/>
              <a:pPr>
                <a:defRPr/>
              </a:pPr>
              <a:t>09/09/2026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543877-296D-099E-8537-C4FBF74C0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DEF52C-8B2A-1EE6-DD93-852BB9978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3DB3C1-A479-4914-8DE6-0CF43C90EE2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38141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8A5928-F93F-132A-FD4E-3982969CE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FF1583-7DF2-438A-ACEC-CFFBACC3A3C4}" type="datetimeFigureOut">
              <a:rPr lang="pt-BR"/>
              <a:pPr>
                <a:defRPr/>
              </a:pPr>
              <a:t>09/09/2026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941433-560E-3B1B-022D-B3A405EE0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DCEDB4-80E5-2FB0-068B-643814EB6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EBF6FE-6202-4FDE-A464-71F3AF7B1EE9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3571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CD52A76D-F865-AB20-9A2E-F7727A52C4B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12779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1C024CCE-4F37-8DC1-328B-178EC0A50B1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2420938"/>
            <a:ext cx="10972800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316A4D-E9EA-B9DD-93B9-51F51AEB34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0425B19-E84A-4651-A365-073AE66348AE}" type="datetimeFigureOut">
              <a:rPr lang="pt-BR"/>
              <a:pPr>
                <a:defRPr/>
              </a:pPr>
              <a:t>09/09/2026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79F65E-7C03-6EBF-456C-966BA57508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B996D0-60E4-CBCE-6346-4BD4AD8CE6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5639110-2124-41A4-A996-808846CB265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pic>
        <p:nvPicPr>
          <p:cNvPr id="1031" name="Imagem 4">
            <a:extLst>
              <a:ext uri="{FF2B5EF4-FFF2-40B4-BE49-F238E27FC236}">
                <a16:creationId xmlns:a16="http://schemas.microsoft.com/office/drawing/2014/main" id="{2326AA1D-14C1-DE04-E492-499EB25B4B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8" y="238125"/>
            <a:ext cx="1947862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Imagem 7" descr="Logotipo&#10;&#10;Descrição gerada automaticamente com confiança média">
            <a:extLst>
              <a:ext uri="{FF2B5EF4-FFF2-40B4-BE49-F238E27FC236}">
                <a16:creationId xmlns:a16="http://schemas.microsoft.com/office/drawing/2014/main" id="{1F6926D8-445A-237D-D5AD-573497E150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4500" y="238125"/>
            <a:ext cx="3525838" cy="101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74802F-56E1-0E6A-3F12-E921AEBE92EC}"/>
              </a:ext>
            </a:extLst>
          </p:cNvPr>
          <p:cNvSpPr/>
          <p:nvPr/>
        </p:nvSpPr>
        <p:spPr>
          <a:xfrm>
            <a:off x="2063750" y="1660525"/>
            <a:ext cx="8135938" cy="249299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pt-BR" sz="1300" b="1" cap="all">
                <a:cs typeface="Arial" charset="0"/>
              </a:rPr>
              <a:t>CENTRO PAULA SOUZA
FACULDADE DE TECNOLOGIA DE FRANCA "Dr. THOMAZ NOVELINO"
TECNOLOGIA EM ANÁLISE E DESENVOLVIMENTO DE SISTEMAS
BORA! APP
Social Tech de Conexão Esportiva, Reputação Mútua, Gestão de Amistosos &amp; Segurança Feminina
Autores: Renata Saraiva Claudino &amp; Leonardo Lopes dos Santos
Orientador: Prof. Carlos Eduardo de França Roland
FRANCA / SP — 2026</a:t>
            </a:r>
            <a:endParaRPr lang="pt-BR" sz="1300" b="1" dirty="0">
              <a:cs typeface="Arial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>
            <a:extLst>
              <a:ext uri="{FF2B5EF4-FFF2-40B4-BE49-F238E27FC236}">
                <a16:creationId xmlns:a16="http://schemas.microsoft.com/office/drawing/2014/main" id="{B933FF17-35D1-2A89-8690-122CB6AEF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1660525"/>
            <a:ext cx="8135938" cy="2492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b="1">
                <a:latin typeface="Arial" panose="020B0604020202020204" pitchFamily="34" charset="0"/>
              </a:rPr>
              <a:t>1. CONTEXTO, MOTIVAÇÃO E O PROBLEMA NO ESPORTE AMADOR
• Sedentarismo &amp; Dificuldade de Conexão: Praticantes amadores enfrentam barreiras constantes para fechar quórum, encontrar locais e marcar partidas com atletas comprometidos.
• Vulnerabilidade e Insegurança Feminina: O assédio e a violência verbal/física afastam mulheres de praças e quadras esportivas públicas, gerando exclusão e medo.
• Informalidade e Conflitos: Falta de histórico de pontualidade, desistências de última hora e atitudes antidesportivas sem qualquer responsabilização em grupos de redes sociais.
• Questão de Pesquisa: Como uma plataforma com inteligência geoespacial (PostGIS), reputação mútua e blindagem de segurança pode democratizar e proteger o esporte comunitário?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5">
            <a:extLst>
              <a:ext uri="{FF2B5EF4-FFF2-40B4-BE49-F238E27FC236}">
                <a16:creationId xmlns:a16="http://schemas.microsoft.com/office/drawing/2014/main" id="{A37744FC-1092-3B21-D673-7221F2303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1660525"/>
            <a:ext cx="8135938" cy="2746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150" b="1">
                <a:latin typeface="Arial" panose="020B0604020202020204" pitchFamily="34" charset="0"/>
              </a:rPr>
              <a:t>2. PROPOSTA DE VALOR SOCIAL E PILARES DE INOVAÇÃO
1. Reputação Multidimensional 360° (Estilo 'Uber do Esporte'):
   • O anfitrião avalia o histórico de notas (1 a 5 estrelas) do atleta antes do aceite.
   • Pós-jogo mútuo: avaliação de pontualidade, respeito, quadra e clima de Fair Play.
2. Espaço Seguro &amp; Proteção Feminina (RN06):
   • Partidas femininas possuem mapa e localização física blindados e ocultos para homens.
3. Gestão de Amistosos e Súmula Digital Consensual (RN04 / RN09):
   • Desafio oficial entre equipes, curadoria de árbitros (comunitários/federados) e súmula digital validada pelos capitães.
4. Compliance Esportivo e Tolerância Zero (RN08):
   • Canal de denúncias imediato com suspensão e banimento por machismo, racismo ou agressão.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>
            <a:extLst>
              <a:ext uri="{FF2B5EF4-FFF2-40B4-BE49-F238E27FC236}">
                <a16:creationId xmlns:a16="http://schemas.microsoft.com/office/drawing/2014/main" id="{B933FF17-35D1-2A89-8690-122CB6AEF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1660525"/>
            <a:ext cx="8135938" cy="3100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150" b="1">
                <a:latin typeface="Arial" panose="020B0604020202020204" pitchFamily="34" charset="0"/>
              </a:rPr>
              <a:t>3. ELICITAÇÃO DE REQUISITOS E PESQUISA DE CAMPO (N = 31)
• Metodologia com Conformidade LGPD: Questionário 100% anônimo no Microsoft Forms (Art. 6º, III - Minimização de Dados), eliminando viés de inibição social.
• 90,9% das Mulheres já deixaram de praticar esportes em quadras públicas por medo de assédio ou insegurança (54,5% com frequência e 36,4% às vezes).
• 81,8% das Mulheres consideram a blindagem do mapa oculto para homens (RN06) indispensável.
• 100% de Aprovação da Reputação Mútua Estilo Uber (58,1% essencial e 41,9% útil).
• 87,1% apoiam avaliar o 'Clima de Fair Play do Jogo' e a conservação das quadras.
• 71,0% buscam partidas em um raio de até 5 km de casa (embasando a geolocalização).
• 90,3% apoiam Súmula Digital em amistosos e Banimento Definitivo por discriminação/agressão.</a:t>
            </a:r>
          </a:p>
        </p:txBody>
      </p:sp>
    </p:spTree>
    <p:extLst>
      <p:ext uri="{BB962C8B-B14F-4D97-AF65-F5344CB8AC3E}">
        <p14:creationId xmlns:p14="http://schemas.microsoft.com/office/powerpoint/2010/main" val="2682364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>
            <a:extLst>
              <a:ext uri="{FF2B5EF4-FFF2-40B4-BE49-F238E27FC236}">
                <a16:creationId xmlns:a16="http://schemas.microsoft.com/office/drawing/2014/main" id="{B933FF17-35D1-2A89-8690-122CB6AEF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1660525"/>
            <a:ext cx="8135938" cy="2923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150" b="1">
                <a:latin typeface="Arial" panose="020B0604020202020204" pitchFamily="34" charset="0"/>
              </a:rPr>
              <a:t>4. ARQUITETURA DE SOFTWARE E STACK TECNOLÓGICA
• Clean Architecture em 4 Camadas: Domain, Application, Infrastructure e Presentation desacopladas com Inversão de Dependência (DIP).
• Backend de Alta Performance: Node.js, Fastify, TypeScript, Zod (validação estrita de contratos) e WebSockets em tempo real.
• Motor Geoespacial Nativo: PostgreSQL 16 + PostGIS, consultas espaciais ST_DWithin indexadas com GiST (&lt; 800ms no P95).
• Frontend Moderno &amp; Acessível: React 18, Vite, Material UI (MUI), tema dinâmico Dark/Light uniforme e integração híbrida Leaflet / Google Maps API.
• Segurança &amp; LGPD: Trava dupla de CPF (Módulo 11) + E-mail OTP de 6 dígitos, Soft Delete e Triggers de Auditoria Imutável em JSONB.</a:t>
            </a:r>
          </a:p>
        </p:txBody>
      </p:sp>
    </p:spTree>
    <p:extLst>
      <p:ext uri="{BB962C8B-B14F-4D97-AF65-F5344CB8AC3E}">
        <p14:creationId xmlns:p14="http://schemas.microsoft.com/office/powerpoint/2010/main" val="2505813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>
            <a:extLst>
              <a:ext uri="{FF2B5EF4-FFF2-40B4-BE49-F238E27FC236}">
                <a16:creationId xmlns:a16="http://schemas.microsoft.com/office/drawing/2014/main" id="{B933FF17-35D1-2A89-8690-122CB6AEF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1660525"/>
            <a:ext cx="8135938" cy="239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150" b="1">
                <a:latin typeface="Arial" panose="020B0604020202020204" pitchFamily="34" charset="0"/>
              </a:rPr>
              <a:t>5. MODELAGEM FÍSICA DE DADOS &amp; INTELIGÊNCIA ESPACIAL
• 7 Tabelas Normalizadas: usuario, partida, solicitacao, avaliacao, chat_mensagem, codigo_verificacao_email e auditoria_log.
• Coluna Geoespacial Nativa: partida.localizacao (geometry(Point, 4326)) indexada por GiST.
• Query Principal com Blindagem de Gênero (RN06):
  SELECT * FROM partida p WHERE ST_DWithin(p.localizacao, ST_SetSRID(ST_MakePoint(:lng, :lat), 4326)::geography, :raio_metros) AND (p.espaco_seguro_feminino = FALSE OR :genero_usuario = 'feminino');
• Integridade e Desempenho: Índices B-Tree compostos para consultas relacionais e triggers automáticos de atualização de notas médias de reputação.</a:t>
            </a:r>
          </a:p>
        </p:txBody>
      </p:sp>
    </p:spTree>
    <p:extLst>
      <p:ext uri="{BB962C8B-B14F-4D97-AF65-F5344CB8AC3E}">
        <p14:creationId xmlns:p14="http://schemas.microsoft.com/office/powerpoint/2010/main" val="379405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>
            <a:extLst>
              <a:ext uri="{FF2B5EF4-FFF2-40B4-BE49-F238E27FC236}">
                <a16:creationId xmlns:a16="http://schemas.microsoft.com/office/drawing/2014/main" id="{B933FF17-35D1-2A89-8690-122CB6AEF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1660525"/>
            <a:ext cx="8135938" cy="2569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150" b="1">
                <a:latin typeface="Arial" panose="020B0604020202020204" pitchFamily="34" charset="0"/>
              </a:rPr>
              <a:t>6. FLUXO DA APLICAÇÃO &amp; EXPERIÊNCIA DO USUÁRIO (UX/UI)
• Módulo 1 (Autenticação e Perfil): Cadastro com trava dupla, verificação de e-mail e gestão de perfil de atleta com vínculo ao time oficial (TIME F.C.).
• Módulo 2 (Explorador &amp; Mapa): Filtro por raio de 2 a 25 km, seleção de modalidades (futebol, vôlei, futsal, basquete, beach tennis) e convites formatados para WhatsApp.
• Módulo 3 (Gestão de Vagas): Solicitação com visualização de reputação de estrelas pelo anfitrião e decisão de aceite/recusa em um toque.
• Módulo 4 (Mural &amp; Chat): Sala de mensagens em tempo real para participantes confirmados.
• Módulo 5 (Pós-Jogo 360°): Avaliação por estrelas, tags rápidas de elogio e súmula digital.</a:t>
            </a:r>
          </a:p>
        </p:txBody>
      </p:sp>
    </p:spTree>
    <p:extLst>
      <p:ext uri="{BB962C8B-B14F-4D97-AF65-F5344CB8AC3E}">
        <p14:creationId xmlns:p14="http://schemas.microsoft.com/office/powerpoint/2010/main" val="4289003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>
            <a:extLst>
              <a:ext uri="{FF2B5EF4-FFF2-40B4-BE49-F238E27FC236}">
                <a16:creationId xmlns:a16="http://schemas.microsoft.com/office/drawing/2014/main" id="{B933FF17-35D1-2A89-8690-122CB6AEF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1660525"/>
            <a:ext cx="8135938" cy="22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150" b="1">
                <a:latin typeface="Arial" panose="020B0604020202020204" pitchFamily="34" charset="0"/>
              </a:rPr>
              <a:t>7. RESULTADOS ALCANÇADOS, TESTES E IMPACTO SOCIAL
• Homologação Completa E2E: Testes de ponta a ponta aprovados nas etapas de autenticação, alternância de tema, geolocalização e filtros espaciais em Franca/SP.
• Alta Performance: Respostas do backend em menos de 100ms e consultas PostGIS inferiores a 800ms.
• Inclusão e Empoderamento Feminino: Criação de um ambiente digital seguro onde mulheres jogam sem medo de assédio e com localização física protegida.
• Integração Comunitária: Ocupação sustentável dos +12 CEPELs de Franca/SP e profissionalização de jogos amadores com transparência de custos.</a:t>
            </a:r>
          </a:p>
        </p:txBody>
      </p:sp>
    </p:spTree>
    <p:extLst>
      <p:ext uri="{BB962C8B-B14F-4D97-AF65-F5344CB8AC3E}">
        <p14:creationId xmlns:p14="http://schemas.microsoft.com/office/powerpoint/2010/main" val="809846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>
            <a:extLst>
              <a:ext uri="{FF2B5EF4-FFF2-40B4-BE49-F238E27FC236}">
                <a16:creationId xmlns:a16="http://schemas.microsoft.com/office/drawing/2014/main" id="{B933FF17-35D1-2A89-8690-122CB6AEF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1660525"/>
            <a:ext cx="8135938" cy="2746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150" b="1">
                <a:latin typeface="Arial" panose="020B0604020202020204" pitchFamily="34" charset="0"/>
              </a:rPr>
              <a:t>8. CONCLUSÃO E CONSIDERAÇÕES FINAIS
• Cumprimento Integral do Escopo de Engenharia de Software III (TG).
• O Bora! App consolida a tecnologia como catalisadora de saúde física, socialização, equidade de gênero e segurança no esporte amador.
• Próximos Passos: Expansão para novas modalidades, integração com centros esportivos regionais e publicação nas lojas de aplicativos.
Muito Obrigado!
Renata Saraiva Claudino &amp; Leonardo Lopes dos Santos
Orientador: Prof. Carlos Eduardo de França Roland — FATEC Franca</a:t>
            </a:r>
          </a:p>
        </p:txBody>
      </p:sp>
    </p:spTree>
    <p:extLst>
      <p:ext uri="{BB962C8B-B14F-4D97-AF65-F5344CB8AC3E}">
        <p14:creationId xmlns:p14="http://schemas.microsoft.com/office/powerpoint/2010/main" val="5640099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2139</TotalTime>
  <Words>1216</Words>
  <Application>Microsoft Office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Érica Ap. Araújo</dc:creator>
  <cp:lastModifiedBy>Renata Claudino</cp:lastModifiedBy>
  <cp:revision>288</cp:revision>
  <dcterms:created xsi:type="dcterms:W3CDTF">2011-09-22T14:42:17Z</dcterms:created>
  <dcterms:modified xsi:type="dcterms:W3CDTF">2026-09-10T02:40:40Z</dcterms:modified>
</cp:coreProperties>
</file>